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ubik Light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Nunito"/>
      <p:regular r:id="rId29"/>
      <p:bold r:id="rId30"/>
      <p:italic r:id="rId31"/>
      <p:boldItalic r:id="rId32"/>
    </p:embeddedFont>
    <p:embeddedFont>
      <p:font typeface="Source Code Pro"/>
      <p:regular r:id="rId33"/>
      <p:bold r:id="rId34"/>
      <p:italic r:id="rId35"/>
      <p:boldItalic r:id="rId36"/>
    </p:embeddedFont>
    <p:embeddedFont>
      <p:font typeface="Quattrocento Sans"/>
      <p:regular r:id="rId37"/>
      <p:bold r:id="rId38"/>
      <p:italic r:id="rId39"/>
      <p:boldItalic r:id="rId40"/>
    </p:embeddedFont>
    <p:embeddedFont>
      <p:font typeface="Roboto Light"/>
      <p:regular r:id="rId41"/>
      <p:bold r:id="rId42"/>
      <p:italic r:id="rId43"/>
      <p:boldItalic r:id="rId44"/>
    </p:embeddedFont>
    <p:embeddedFont>
      <p:font typeface="Rubik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3171">
          <p15:clr>
            <a:srgbClr val="9AA0A6"/>
          </p15:clr>
        </p15:guide>
        <p15:guide id="4" pos="5288">
          <p15:clr>
            <a:srgbClr val="9AA0A6"/>
          </p15:clr>
        </p15:guide>
        <p15:guide id="5" orient="horz" pos="903">
          <p15:clr>
            <a:srgbClr val="9AA0A6"/>
          </p15:clr>
        </p15:guide>
        <p15:guide id="6" orient="horz" pos="2768">
          <p15:clr>
            <a:srgbClr val="9AA0A6"/>
          </p15:clr>
        </p15:guide>
        <p15:guide id="7" orient="horz" pos="105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CFF80F-CDD9-411E-815D-03AE11B24786}">
  <a:tblStyle styleId="{38CFF80F-CDD9-411E-815D-03AE11B2478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B3303B2-A8BB-4173-92D2-6ADB5D7DE3F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3171"/>
        <p:guide pos="5288"/>
        <p:guide pos="903" orient="horz"/>
        <p:guide pos="2768" orient="horz"/>
        <p:guide pos="105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Light-bold.fntdata"/><Relationship Id="rId41" Type="http://schemas.openxmlformats.org/officeDocument/2006/relationships/font" Target="fonts/RobotoLight-regular.fntdata"/><Relationship Id="rId22" Type="http://schemas.openxmlformats.org/officeDocument/2006/relationships/font" Target="fonts/RubikLight-bold.fntdata"/><Relationship Id="rId44" Type="http://schemas.openxmlformats.org/officeDocument/2006/relationships/font" Target="fonts/RobotoLight-boldItalic.fntdata"/><Relationship Id="rId21" Type="http://schemas.openxmlformats.org/officeDocument/2006/relationships/font" Target="fonts/RubikLight-regular.fntdata"/><Relationship Id="rId43" Type="http://schemas.openxmlformats.org/officeDocument/2006/relationships/font" Target="fonts/RobotoLight-italic.fntdata"/><Relationship Id="rId24" Type="http://schemas.openxmlformats.org/officeDocument/2006/relationships/font" Target="fonts/RubikLight-boldItalic.fntdata"/><Relationship Id="rId46" Type="http://schemas.openxmlformats.org/officeDocument/2006/relationships/font" Target="fonts/Rubik-bold.fntdata"/><Relationship Id="rId23" Type="http://schemas.openxmlformats.org/officeDocument/2006/relationships/font" Target="fonts/RubikLight-italic.fntdata"/><Relationship Id="rId45" Type="http://schemas.openxmlformats.org/officeDocument/2006/relationships/font" Target="fonts/Rubi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48" Type="http://schemas.openxmlformats.org/officeDocument/2006/relationships/font" Target="fonts/Rubik-boldItalic.fntdata"/><Relationship Id="rId25" Type="http://schemas.openxmlformats.org/officeDocument/2006/relationships/font" Target="fonts/Roboto-regular.fntdata"/><Relationship Id="rId47" Type="http://schemas.openxmlformats.org/officeDocument/2006/relationships/font" Target="fonts/Rubik-italic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5.xml"/><Relationship Id="rId33" Type="http://schemas.openxmlformats.org/officeDocument/2006/relationships/font" Target="fonts/SourceCodePro-regular.fntdata"/><Relationship Id="rId10" Type="http://schemas.openxmlformats.org/officeDocument/2006/relationships/slide" Target="slides/slide4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7.xml"/><Relationship Id="rId35" Type="http://schemas.openxmlformats.org/officeDocument/2006/relationships/font" Target="fonts/SourceCodePro-italic.fntdata"/><Relationship Id="rId12" Type="http://schemas.openxmlformats.org/officeDocument/2006/relationships/slide" Target="slides/slide6.xml"/><Relationship Id="rId34" Type="http://schemas.openxmlformats.org/officeDocument/2006/relationships/font" Target="fonts/SourceCodePro-bold.fntdata"/><Relationship Id="rId15" Type="http://schemas.openxmlformats.org/officeDocument/2006/relationships/slide" Target="slides/slide9.xml"/><Relationship Id="rId37" Type="http://schemas.openxmlformats.org/officeDocument/2006/relationships/font" Target="fonts/QuattrocentoSans-regular.fntdata"/><Relationship Id="rId14" Type="http://schemas.openxmlformats.org/officeDocument/2006/relationships/slide" Target="slides/slide8.xml"/><Relationship Id="rId36" Type="http://schemas.openxmlformats.org/officeDocument/2006/relationships/font" Target="fonts/SourceCodePro-boldItalic.fntdata"/><Relationship Id="rId17" Type="http://schemas.openxmlformats.org/officeDocument/2006/relationships/slide" Target="slides/slide11.xml"/><Relationship Id="rId39" Type="http://schemas.openxmlformats.org/officeDocument/2006/relationships/font" Target="fonts/QuattrocentoSans-italic.fntdata"/><Relationship Id="rId16" Type="http://schemas.openxmlformats.org/officeDocument/2006/relationships/slide" Target="slides/slide10.xml"/><Relationship Id="rId38" Type="http://schemas.openxmlformats.org/officeDocument/2006/relationships/font" Target="fonts/Quattrocento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13fbd1f4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d13fbd1f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6117f005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d6117f005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d6117f005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d6117f005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e2097c1a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e2097c1a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292929"/>
                </a:solidFill>
                <a:latin typeface="Nunito"/>
                <a:ea typeface="Nunito"/>
                <a:cs typeface="Nunito"/>
                <a:sym typeface="Nunito"/>
              </a:rPr>
              <a:t>*minimize data redundancy</a:t>
            </a:r>
            <a:endParaRPr sz="100">
              <a:solidFill>
                <a:srgbClr val="29292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13fbd1f42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13fbd1f4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13fbd1f42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13fbd1f42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6117f005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6117f005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9fdfcf16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9fdfcf16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ca10896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11ca10896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rgbClr val="595C5D"/>
                </a:solidFill>
                <a:latin typeface="Rubik Light"/>
                <a:ea typeface="Rubik Light"/>
                <a:cs typeface="Rubik Light"/>
                <a:sym typeface="Rubik Light"/>
              </a:rPr>
              <a:t>A single computer can run multiple MySQL instances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d6117f005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d6117f005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d7001dd6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d7001dd6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d7001dd6a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d7001dd6a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e2097c1a70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e2097c1a70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224683" y="2690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Rubik Light"/>
              <a:buNone/>
              <a:defRPr sz="5200">
                <a:latin typeface="Rubik Light"/>
                <a:ea typeface="Rubik Light"/>
                <a:cs typeface="Rubik Light"/>
                <a:sym typeface="Rubi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 2">
  <p:cSld name="TITLE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rgbClr val="EBEBEB">
              <a:alpha val="703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224683" y="2690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Rubik Light"/>
              <a:buNone/>
              <a:defRPr sz="5200">
                <a:latin typeface="Rubik Light"/>
                <a:ea typeface="Rubik Light"/>
                <a:cs typeface="Rubik Light"/>
                <a:sym typeface="Rubik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 1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ctrTitle"/>
          </p:nvPr>
        </p:nvSpPr>
        <p:spPr>
          <a:xfrm>
            <a:off x="224683" y="2690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Rubik Light"/>
              <a:buNone/>
              <a:defRPr sz="5200">
                <a:latin typeface="Rubik Light"/>
                <a:ea typeface="Rubik Light"/>
                <a:cs typeface="Rubik Light"/>
                <a:sym typeface="Rubik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651150" y="600625"/>
            <a:ext cx="782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724950" y="1372650"/>
            <a:ext cx="3954600" cy="30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2" name="Google Shape;32;p6"/>
          <p:cNvCxnSpPr/>
          <p:nvPr/>
        </p:nvCxnSpPr>
        <p:spPr>
          <a:xfrm>
            <a:off x="724950" y="1206925"/>
            <a:ext cx="76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6"/>
          <p:cNvSpPr/>
          <p:nvPr/>
        </p:nvSpPr>
        <p:spPr>
          <a:xfrm>
            <a:off x="5034400" y="1436400"/>
            <a:ext cx="3345900" cy="295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171">
          <p15:clr>
            <a:srgbClr val="FA7B17"/>
          </p15:clr>
        </p15:guide>
        <p15:guide id="2" pos="5288">
          <p15:clr>
            <a:srgbClr val="FA7B17"/>
          </p15:clr>
        </p15:guide>
        <p15:guide id="3" orient="horz" pos="2768">
          <p15:clr>
            <a:srgbClr val="FA7B17"/>
          </p15:clr>
        </p15:guide>
        <p15:guide id="4" orient="horz" pos="903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832400" y="1372625"/>
            <a:ext cx="3639900" cy="30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651150" y="600625"/>
            <a:ext cx="782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768525" y="1372625"/>
            <a:ext cx="3639900" cy="30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40" name="Google Shape;40;p7"/>
          <p:cNvCxnSpPr/>
          <p:nvPr/>
        </p:nvCxnSpPr>
        <p:spPr>
          <a:xfrm>
            <a:off x="724950" y="1206925"/>
            <a:ext cx="76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651150" y="600625"/>
            <a:ext cx="782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651150" y="600625"/>
            <a:ext cx="782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700825" y="1372625"/>
            <a:ext cx="7771500" cy="30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50" name="Google Shape;50;p9"/>
          <p:cNvCxnSpPr/>
          <p:nvPr/>
        </p:nvCxnSpPr>
        <p:spPr>
          <a:xfrm>
            <a:off x="724950" y="1206925"/>
            <a:ext cx="76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637000" y="659325"/>
            <a:ext cx="3926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745450" y="1415025"/>
            <a:ext cx="2808000" cy="30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6" name="Google Shape;56;p10"/>
          <p:cNvCxnSpPr/>
          <p:nvPr/>
        </p:nvCxnSpPr>
        <p:spPr>
          <a:xfrm>
            <a:off x="724950" y="1395500"/>
            <a:ext cx="386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type="title"/>
          </p:nvPr>
        </p:nvSpPr>
        <p:spPr>
          <a:xfrm>
            <a:off x="919325" y="961750"/>
            <a:ext cx="7305300" cy="333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/>
        </p:nvSpPr>
        <p:spPr>
          <a:xfrm>
            <a:off x="476100" y="465300"/>
            <a:ext cx="40875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900000" y="839175"/>
            <a:ext cx="3240000" cy="187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p12"/>
          <p:cNvSpPr txBox="1"/>
          <p:nvPr>
            <p:ph idx="1" type="subTitle"/>
          </p:nvPr>
        </p:nvSpPr>
        <p:spPr>
          <a:xfrm>
            <a:off x="900000" y="2803075"/>
            <a:ext cx="3240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7">
          <p15:clr>
            <a:srgbClr val="FA7B17"/>
          </p15:clr>
        </p15:guide>
        <p15:guide id="2" pos="2608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571000" y="4073100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>
            <p:ph hasCustomPrompt="1" type="title"/>
          </p:nvPr>
        </p:nvSpPr>
        <p:spPr>
          <a:xfrm>
            <a:off x="740175" y="1106125"/>
            <a:ext cx="7529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740175" y="3152225"/>
            <a:ext cx="7529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476100" y="465300"/>
            <a:ext cx="40875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5"/>
          <p:cNvSpPr txBox="1"/>
          <p:nvPr>
            <p:ph type="title"/>
          </p:nvPr>
        </p:nvSpPr>
        <p:spPr>
          <a:xfrm>
            <a:off x="899850" y="1667250"/>
            <a:ext cx="3240000" cy="13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9" name="Google Shape;79;p15"/>
          <p:cNvSpPr txBox="1"/>
          <p:nvPr>
            <p:ph idx="1" type="subTitle"/>
          </p:nvPr>
        </p:nvSpPr>
        <p:spPr>
          <a:xfrm>
            <a:off x="4987025" y="1829850"/>
            <a:ext cx="3240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50">
          <p15:clr>
            <a:srgbClr val="FA7B17"/>
          </p15:clr>
        </p15:guide>
        <p15:guide id="2" pos="567">
          <p15:clr>
            <a:srgbClr val="FA7B17"/>
          </p15:clr>
        </p15:guide>
        <p15:guide id="3" orient="horz" pos="1931">
          <p15:clr>
            <a:srgbClr val="FA7B17"/>
          </p15:clr>
        </p15:guide>
        <p15:guide id="4" pos="3141">
          <p15:clr>
            <a:srgbClr val="FA7B17"/>
          </p15:clr>
        </p15:guide>
        <p15:guide id="5" pos="5443">
          <p15:clr>
            <a:srgbClr val="FA7B17"/>
          </p15:clr>
        </p15:guide>
        <p15:guide id="6" pos="2608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38550" y="1231425"/>
            <a:ext cx="7771500" cy="30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85" name="Google Shape;85;p17"/>
          <p:cNvCxnSpPr/>
          <p:nvPr/>
        </p:nvCxnSpPr>
        <p:spPr>
          <a:xfrm>
            <a:off x="438550" y="1017725"/>
            <a:ext cx="76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ubik Light"/>
              <a:buNone/>
              <a:defRPr sz="2800">
                <a:solidFill>
                  <a:schemeClr val="dk2"/>
                </a:solidFill>
                <a:latin typeface="Rubik Light"/>
                <a:ea typeface="Rubik Light"/>
                <a:cs typeface="Rubik Light"/>
                <a:sym typeface="Rubi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Roboto Light"/>
              <a:buChar char="●"/>
              <a:defRPr sz="16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oboto Light"/>
              <a:buChar char="○"/>
              <a:defRPr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oboto Light"/>
              <a:buChar char="■"/>
              <a:defRPr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oboto Light"/>
              <a:buChar char="●"/>
              <a:defRPr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oboto Light"/>
              <a:buChar char="○"/>
              <a:defRPr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oboto Light"/>
              <a:buChar char="■"/>
              <a:defRPr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oboto Light"/>
              <a:buChar char="●"/>
              <a:defRPr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oboto Light"/>
              <a:buChar char="○"/>
              <a:defRPr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oboto Light"/>
              <a:buChar char="■"/>
              <a:defRPr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400" y="4772413"/>
            <a:ext cx="952300" cy="2506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sqltutorial.org/sql-cheat-sheet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.mysql.com/doc/refman/8.0/en/data-types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ctrTitle"/>
          </p:nvPr>
        </p:nvSpPr>
        <p:spPr>
          <a:xfrm>
            <a:off x="1275450" y="1545450"/>
            <a:ext cx="6593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accent4"/>
                </a:highlight>
              </a:rPr>
              <a:t>Relational Databases</a:t>
            </a:r>
            <a:endParaRPr>
              <a:solidFill>
                <a:schemeClr val="lt1"/>
              </a:solidFill>
              <a:highlight>
                <a:schemeClr val="accent4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651150" y="600625"/>
            <a:ext cx="782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using databases?</a:t>
            </a:r>
            <a:endParaRPr/>
          </a:p>
        </p:txBody>
      </p:sp>
      <p:sp>
        <p:nvSpPr>
          <p:cNvPr id="96" name="Google Shape;96;p19"/>
          <p:cNvSpPr txBox="1"/>
          <p:nvPr>
            <p:ph idx="4294967295" type="body"/>
          </p:nvPr>
        </p:nvSpPr>
        <p:spPr>
          <a:xfrm>
            <a:off x="724950" y="1372650"/>
            <a:ext cx="68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A place to </a:t>
            </a:r>
            <a:r>
              <a:rPr b="1" lang="en-GB">
                <a:latin typeface="Roboto"/>
                <a:ea typeface="Roboto"/>
                <a:cs typeface="Roboto"/>
                <a:sym typeface="Roboto"/>
              </a:rPr>
              <a:t>store </a:t>
            </a:r>
            <a:r>
              <a:rPr lang="en-GB"/>
              <a:t>data (typically not in your local computer)</a:t>
            </a:r>
            <a:endParaRPr/>
          </a:p>
        </p:txBody>
      </p:sp>
      <p:sp>
        <p:nvSpPr>
          <p:cNvPr id="97" name="Google Shape;97;p19"/>
          <p:cNvSpPr txBox="1"/>
          <p:nvPr>
            <p:ph idx="4294967295" type="body"/>
          </p:nvPr>
        </p:nvSpPr>
        <p:spPr>
          <a:xfrm>
            <a:off x="724950" y="2089600"/>
            <a:ext cx="68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Provides </a:t>
            </a:r>
            <a:r>
              <a:rPr b="1" lang="en-GB">
                <a:latin typeface="Roboto"/>
                <a:ea typeface="Roboto"/>
                <a:cs typeface="Roboto"/>
                <a:sym typeface="Roboto"/>
              </a:rPr>
              <a:t>structure </a:t>
            </a:r>
            <a:r>
              <a:rPr lang="en-GB"/>
              <a:t>to the data (data types, constraints…)</a:t>
            </a:r>
            <a:endParaRPr/>
          </a:p>
        </p:txBody>
      </p:sp>
      <p:sp>
        <p:nvSpPr>
          <p:cNvPr id="98" name="Google Shape;98;p19"/>
          <p:cNvSpPr txBox="1"/>
          <p:nvPr>
            <p:ph idx="4294967295" type="body"/>
          </p:nvPr>
        </p:nvSpPr>
        <p:spPr>
          <a:xfrm>
            <a:off x="724950" y="2806550"/>
            <a:ext cx="68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Provides a mechanism for querying, creating, modifying and deleting data.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ubik"/>
                <a:ea typeface="Rubik"/>
                <a:cs typeface="Rubik"/>
                <a:sym typeface="Rubik"/>
              </a:rPr>
              <a:t>Relational </a:t>
            </a:r>
            <a:r>
              <a:rPr b="1" lang="en-GB">
                <a:latin typeface="Rubik"/>
                <a:ea typeface="Rubik"/>
                <a:cs typeface="Rubik"/>
                <a:sym typeface="Rubik"/>
              </a:rPr>
              <a:t>Database</a:t>
            </a:r>
            <a:r>
              <a:rPr b="1" lang="en-GB">
                <a:latin typeface="Rubik"/>
                <a:ea typeface="Rubik"/>
                <a:cs typeface="Rubik"/>
                <a:sym typeface="Rubik"/>
              </a:rPr>
              <a:t> Management Systems (RDBMS)</a:t>
            </a:r>
            <a:endParaRPr b="1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600200" y="1478200"/>
            <a:ext cx="746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Light"/>
                <a:ea typeface="Roboto Light"/>
                <a:cs typeface="Roboto Light"/>
                <a:sym typeface="Roboto Light"/>
              </a:rPr>
              <a:t>If you want to create and use relational databases, you need a piece of software. This software is the RDBMS. 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600200" y="2127325"/>
            <a:ext cx="746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Light"/>
                <a:ea typeface="Roboto Light"/>
                <a:cs typeface="Roboto Light"/>
                <a:sym typeface="Roboto Light"/>
              </a:rPr>
              <a:t>MySQL, PostgreSQL, MariaDB, Oracle, IBM DB2… are all examples of RDBMS. 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600200" y="2697125"/>
            <a:ext cx="746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Light"/>
                <a:ea typeface="Roboto Light"/>
                <a:cs typeface="Roboto Light"/>
                <a:sym typeface="Roboto Light"/>
              </a:rPr>
              <a:t>They all share the main principles, and the language used to query the data is almost (but not completely) identical.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600200" y="3482325"/>
            <a:ext cx="82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Light"/>
                <a:ea typeface="Roboto Light"/>
                <a:cs typeface="Roboto Light"/>
                <a:sym typeface="Roboto Light"/>
              </a:rPr>
              <a:t>MySQL is the most widely used one, and it’s open source.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ubik"/>
                <a:ea typeface="Rubik"/>
                <a:cs typeface="Rubik"/>
                <a:sym typeface="Rubik"/>
              </a:rPr>
              <a:t>SQL: Structured Query Language</a:t>
            </a:r>
            <a:endParaRPr b="1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463450" y="1177600"/>
            <a:ext cx="810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Light"/>
                <a:ea typeface="Roboto Light"/>
                <a:cs typeface="Roboto Light"/>
                <a:sym typeface="Roboto Light"/>
              </a:rPr>
              <a:t>Easy peasy language to interact with databases: select &amp; filter  information, join tables, create tables, insert/delete data…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463450" y="1876575"/>
            <a:ext cx="810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Light"/>
                <a:ea typeface="Roboto Light"/>
                <a:cs typeface="Roboto Light"/>
                <a:sym typeface="Roboto Light"/>
              </a:rPr>
              <a:t>To get started, what’s difficult is to set up the tools, create ‘connections’ to and from other tools, understand weird words like “schema”, “client”, “host” or “DBMS”.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463450" y="2708500"/>
            <a:ext cx="810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Light"/>
                <a:ea typeface="Roboto Light"/>
                <a:cs typeface="Roboto Light"/>
                <a:sym typeface="Roboto Light"/>
              </a:rPr>
              <a:t>Queries get difficult when the structure of the data itself gets complex, answers to business questions are not obvious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463450" y="3540425"/>
            <a:ext cx="810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Light"/>
                <a:ea typeface="Roboto Light"/>
                <a:cs typeface="Roboto Light"/>
                <a:sym typeface="Roboto Light"/>
              </a:rPr>
              <a:t>Most of the time, you need an intermediate level of SQL to get a job in the data world. However, you just need the knowledge to get the right data, not to set up &amp; manage a database.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132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 sz="2200">
                <a:latin typeface="Rubik"/>
                <a:ea typeface="Rubik"/>
                <a:cs typeface="Rubik"/>
                <a:sym typeface="Rubik"/>
              </a:rPr>
              <a:t>Relational databases save space &amp; ensure data consistency</a:t>
            </a:r>
            <a:endParaRPr b="1" sz="2200">
              <a:latin typeface="Rubik"/>
              <a:ea typeface="Rubik"/>
              <a:cs typeface="Rubik"/>
              <a:sym typeface="Rubik"/>
            </a:endParaRPr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952475" y="117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{38CFF80F-CDD9-411E-815D-03AE11B24786}</a:tableStyleId>
              </a:tblPr>
              <a:tblGrid>
                <a:gridCol w="691250"/>
                <a:gridCol w="996050"/>
                <a:gridCol w="986525"/>
                <a:gridCol w="1110350"/>
                <a:gridCol w="1110350"/>
                <a:gridCol w="1091300"/>
                <a:gridCol w="1253225"/>
              </a:tblGrid>
              <a:tr h="328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emp_ID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First_name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Last_name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Store_id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Store_city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Store_type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Store_emp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Vladimir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Popov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London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Showcase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15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Cinar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Horton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Norwich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Regular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Harry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Beltik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London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Showcase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15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" name="Google Shape;123;p22"/>
          <p:cNvGraphicFramePr/>
          <p:nvPr/>
        </p:nvGraphicFramePr>
        <p:xfrm>
          <a:off x="2639775" y="292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{38CFF80F-CDD9-411E-815D-03AE11B24786}</a:tableStyleId>
              </a:tblPr>
              <a:tblGrid>
                <a:gridCol w="627525"/>
                <a:gridCol w="887875"/>
                <a:gridCol w="888650"/>
              </a:tblGrid>
              <a:tr h="37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emp_id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First_name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Last_name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Vladimir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Popov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Cinar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Horton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Harry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Beltik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4" name="Google Shape;124;p22"/>
          <p:cNvGraphicFramePr/>
          <p:nvPr/>
        </p:nvGraphicFramePr>
        <p:xfrm>
          <a:off x="5134400" y="292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{38CFF80F-CDD9-411E-815D-03AE11B24786}</a:tableStyleId>
              </a:tblPr>
              <a:tblGrid>
                <a:gridCol w="712600"/>
                <a:gridCol w="847450"/>
                <a:gridCol w="878825"/>
                <a:gridCol w="878800"/>
              </a:tblGrid>
              <a:tr h="37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Store_id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Store_city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Store_type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Store_emp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London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Showcase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15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3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Norwich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Regular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Bristol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Regular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5" name="Google Shape;125;p22"/>
          <p:cNvGraphicFramePr/>
          <p:nvPr/>
        </p:nvGraphicFramePr>
        <p:xfrm>
          <a:off x="952463" y="292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{38CFF80F-CDD9-411E-815D-03AE11B24786}</a:tableStyleId>
              </a:tblPr>
              <a:tblGrid>
                <a:gridCol w="726725"/>
                <a:gridCol w="686950"/>
              </a:tblGrid>
              <a:tr h="37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emp_id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store_id</a:t>
                      </a:r>
                      <a:endParaRPr b="1"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b="1"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22"/>
          <p:cNvSpPr txBox="1"/>
          <p:nvPr/>
        </p:nvSpPr>
        <p:spPr>
          <a:xfrm>
            <a:off x="895325" y="801375"/>
            <a:ext cx="1625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Employees_stores</a:t>
            </a:r>
            <a:endParaRPr b="1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914375" y="2556638"/>
            <a:ext cx="1587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Employees_stores</a:t>
            </a:r>
            <a:endParaRPr b="1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2556000" y="2571750"/>
            <a:ext cx="1587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Employees</a:t>
            </a:r>
            <a:endParaRPr b="1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4994075" y="2571750"/>
            <a:ext cx="1587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Stores</a:t>
            </a:r>
            <a:endParaRPr b="1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5134400" y="4267950"/>
            <a:ext cx="3771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Quattrocento Sans"/>
              <a:buChar char="●"/>
            </a:pPr>
            <a:r>
              <a:rPr b="0" i="0" lang="en-GB" sz="12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1 row per store. </a:t>
            </a:r>
            <a:endParaRPr b="0" i="0" sz="1200" u="none" cap="none" strike="noStrike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Quattrocento Sans"/>
              <a:buChar char="●"/>
            </a:pPr>
            <a:r>
              <a:rPr b="0" i="0" lang="en-GB" sz="12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Easy to maintain and update. </a:t>
            </a:r>
            <a:endParaRPr b="0" i="0" sz="1200" u="none" cap="none" strike="noStrike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Quattrocento Sans"/>
              <a:buChar char="●"/>
            </a:pPr>
            <a:r>
              <a:rPr b="0" i="0" lang="en-GB" sz="12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can have stores without employees.</a:t>
            </a:r>
            <a:endParaRPr b="0" i="0" sz="1200" u="none" cap="none" strike="noStrike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858250" y="4206100"/>
            <a:ext cx="22215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an employee changes store, we just update this.</a:t>
            </a:r>
            <a:endParaRPr b="0" i="0" sz="1200" u="none" cap="none" strike="noStrike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1679200" y="4061275"/>
            <a:ext cx="579600" cy="17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8198550" y="2293050"/>
            <a:ext cx="579725" cy="1196672"/>
          </a:xfrm>
          <a:custGeom>
            <a:rect b="b" l="l" r="r" t="t"/>
            <a:pathLst>
              <a:path extrusionOk="0" h="56162" w="23189">
                <a:moveTo>
                  <a:pt x="0" y="0"/>
                </a:moveTo>
                <a:cubicBezTo>
                  <a:pt x="3010" y="1129"/>
                  <a:pt x="15334" y="1928"/>
                  <a:pt x="18062" y="6773"/>
                </a:cubicBezTo>
                <a:cubicBezTo>
                  <a:pt x="20790" y="11618"/>
                  <a:pt x="15522" y="21919"/>
                  <a:pt x="16369" y="29069"/>
                </a:cubicBezTo>
                <a:cubicBezTo>
                  <a:pt x="17216" y="36219"/>
                  <a:pt x="23518" y="45156"/>
                  <a:pt x="23142" y="49671"/>
                </a:cubicBezTo>
                <a:cubicBezTo>
                  <a:pt x="22766" y="54187"/>
                  <a:pt x="15616" y="55080"/>
                  <a:pt x="14111" y="56162"/>
                </a:cubicBezTo>
              </a:path>
            </a:pathLst>
          </a:cu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8184450" y="1686275"/>
            <a:ext cx="479775" cy="776125"/>
          </a:xfrm>
          <a:custGeom>
            <a:rect b="b" l="l" r="r" t="t"/>
            <a:pathLst>
              <a:path extrusionOk="0" h="31045" w="19191">
                <a:moveTo>
                  <a:pt x="0" y="0"/>
                </a:moveTo>
                <a:cubicBezTo>
                  <a:pt x="1882" y="1176"/>
                  <a:pt x="8091" y="1882"/>
                  <a:pt x="11289" y="7056"/>
                </a:cubicBezTo>
                <a:cubicBezTo>
                  <a:pt x="14488" y="12230"/>
                  <a:pt x="17874" y="27047"/>
                  <a:pt x="19191" y="31045"/>
                </a:cubicBezTo>
              </a:path>
            </a:pathLst>
          </a:cu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/>
        </p:nvSpPr>
        <p:spPr>
          <a:xfrm flipH="1" rot="-5400000">
            <a:off x="10650" y="1526163"/>
            <a:ext cx="1192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 - RELATIONAL</a:t>
            </a:r>
            <a:endParaRPr b="1" i="0" sz="14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 flipH="1" rot="-5400000">
            <a:off x="81025" y="3403650"/>
            <a:ext cx="11925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RELATIONAL</a:t>
            </a:r>
            <a:endParaRPr b="1" i="0" sz="14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571000" y="680000"/>
            <a:ext cx="7260000" cy="9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relational databases, </a:t>
            </a:r>
            <a:r>
              <a:rPr b="1" lang="en-GB">
                <a:latin typeface="Roboto"/>
                <a:ea typeface="Roboto"/>
                <a:cs typeface="Roboto"/>
                <a:sym typeface="Roboto"/>
              </a:rPr>
              <a:t>data is scattered across multiple tables</a:t>
            </a:r>
            <a:r>
              <a:rPr lang="en-GB"/>
              <a:t>. Good to avoid data redundancy, but not the easiest display for </a:t>
            </a:r>
            <a:r>
              <a:rPr lang="en-GB"/>
              <a:t>analysing</a:t>
            </a:r>
            <a:r>
              <a:rPr lang="en-GB"/>
              <a:t> and reporting.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571000" y="1654245"/>
            <a:ext cx="7260000" cy="9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solution to this challenge is to create a </a:t>
            </a:r>
            <a:r>
              <a:rPr b="1" lang="en-GB">
                <a:latin typeface="Roboto"/>
                <a:ea typeface="Roboto"/>
                <a:cs typeface="Roboto"/>
                <a:sym typeface="Roboto"/>
              </a:rPr>
              <a:t>data mart</a:t>
            </a:r>
            <a:r>
              <a:rPr lang="en-GB"/>
              <a:t>.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571000" y="2628500"/>
            <a:ext cx="7260000" cy="9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data mart is a subset of the database with the information relevant for a specific department, a reporting task, a dashboard, etc.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571000" y="3602750"/>
            <a:ext cx="7260000" cy="9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crucial part of creating a data mart is to </a:t>
            </a:r>
            <a:r>
              <a:rPr b="1" lang="en-GB">
                <a:latin typeface="Roboto"/>
                <a:ea typeface="Roboto"/>
                <a:cs typeface="Roboto"/>
                <a:sym typeface="Roboto"/>
              </a:rPr>
              <a:t>join </a:t>
            </a:r>
            <a:r>
              <a:rPr lang="en-GB"/>
              <a:t>tables.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a data mart (from relational to non-relational)</a:t>
            </a:r>
            <a:endParaRPr/>
          </a:p>
        </p:txBody>
      </p:sp>
      <p:graphicFrame>
        <p:nvGraphicFramePr>
          <p:cNvPr id="150" name="Google Shape;150;p24"/>
          <p:cNvGraphicFramePr/>
          <p:nvPr/>
        </p:nvGraphicFramePr>
        <p:xfrm>
          <a:off x="1123950" y="346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{CB3303B2-A8BB-4173-92D2-6ADB5D7DE3F9}</a:tableStyleId>
              </a:tblPr>
              <a:tblGrid>
                <a:gridCol w="504825"/>
                <a:gridCol w="752475"/>
                <a:gridCol w="742950"/>
                <a:gridCol w="838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emp_ID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/>
                        <a:t>First_name</a:t>
                      </a:r>
                      <a:endParaRPr sz="75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/>
                        <a:t>Last_name</a:t>
                      </a:r>
                      <a:endParaRPr sz="75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/>
                        <a:t>Store_city</a:t>
                      </a:r>
                      <a:endParaRPr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1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/>
                        <a:t>Vladimir</a:t>
                      </a:r>
                      <a:endParaRPr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/>
                        <a:t>Popov</a:t>
                      </a:r>
                      <a:endParaRPr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/>
                        <a:t>London</a:t>
                      </a:r>
                      <a:endParaRPr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2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/>
                        <a:t>Cinar</a:t>
                      </a:r>
                      <a:endParaRPr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/>
                        <a:t>Horton</a:t>
                      </a:r>
                      <a:endParaRPr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/>
                        <a:t>Norwich</a:t>
                      </a:r>
                      <a:endParaRPr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1" name="Google Shape;151;p24"/>
          <p:cNvGraphicFramePr/>
          <p:nvPr/>
        </p:nvGraphicFramePr>
        <p:xfrm>
          <a:off x="1049775" y="145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{CB3303B2-A8BB-4173-92D2-6ADB5D7DE3F9}</a:tableStyleId>
              </a:tblPr>
              <a:tblGrid>
                <a:gridCol w="533400"/>
                <a:gridCol w="533400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emp_id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store_id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1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A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2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B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3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A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2" name="Google Shape;152;p24"/>
          <p:cNvGraphicFramePr/>
          <p:nvPr/>
        </p:nvGraphicFramePr>
        <p:xfrm>
          <a:off x="2751950" y="1451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{CB3303B2-A8BB-4173-92D2-6ADB5D7DE3F9}</a:tableStyleId>
              </a:tblPr>
              <a:tblGrid>
                <a:gridCol w="485775"/>
                <a:gridCol w="666750"/>
                <a:gridCol w="666750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emp_id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First_name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Last_name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1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Vladimir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Popov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2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Cinar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Horton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3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Harry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Beltik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" name="Google Shape;153;p24"/>
          <p:cNvGraphicFramePr/>
          <p:nvPr/>
        </p:nvGraphicFramePr>
        <p:xfrm>
          <a:off x="5526525" y="145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{CB3303B2-A8BB-4173-92D2-6ADB5D7DE3F9}</a:tableStyleId>
              </a:tblPr>
              <a:tblGrid>
                <a:gridCol w="533400"/>
                <a:gridCol w="628650"/>
                <a:gridCol w="657225"/>
                <a:gridCol w="666750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Store_id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Store_city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Store_type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/>
                        <a:t>Store_emp</a:t>
                      </a:r>
                      <a:endParaRPr b="1" sz="75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A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London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Showcase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15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B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Norwich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Regular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3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/>
                        <a:t>C</a:t>
                      </a:r>
                      <a:endParaRPr b="1"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Bristol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Regular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0</a:t>
                      </a:r>
                      <a:endParaRPr sz="700"/>
                    </a:p>
                  </a:txBody>
                  <a:tcPr marT="68575" marB="68575" marR="68575" marL="68575">
                    <a:lnL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8C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287" y="3437450"/>
            <a:ext cx="1457200" cy="11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9925" y="1383025"/>
            <a:ext cx="1504950" cy="118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/>
          <p:nvPr/>
        </p:nvSpPr>
        <p:spPr>
          <a:xfrm>
            <a:off x="1010475" y="1344750"/>
            <a:ext cx="471000" cy="1260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"/>
          <p:cNvSpPr/>
          <p:nvPr/>
        </p:nvSpPr>
        <p:spPr>
          <a:xfrm>
            <a:off x="2697100" y="1344750"/>
            <a:ext cx="463500" cy="1260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" name="Google Shape;158;p24"/>
          <p:cNvCxnSpPr>
            <a:stCxn id="156" idx="2"/>
          </p:cNvCxnSpPr>
          <p:nvPr/>
        </p:nvCxnSpPr>
        <p:spPr>
          <a:xfrm>
            <a:off x="1245975" y="2605050"/>
            <a:ext cx="68400" cy="82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4"/>
          <p:cNvCxnSpPr>
            <a:stCxn id="157" idx="2"/>
          </p:cNvCxnSpPr>
          <p:nvPr/>
        </p:nvCxnSpPr>
        <p:spPr>
          <a:xfrm flipH="1">
            <a:off x="1359850" y="2605050"/>
            <a:ext cx="1569000" cy="8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4"/>
          <p:cNvSpPr/>
          <p:nvPr/>
        </p:nvSpPr>
        <p:spPr>
          <a:xfrm>
            <a:off x="1080175" y="3433950"/>
            <a:ext cx="471000" cy="1111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" name="Google Shape;161;p24"/>
          <p:cNvCxnSpPr>
            <a:stCxn id="155" idx="2"/>
            <a:endCxn id="154" idx="0"/>
          </p:cNvCxnSpPr>
          <p:nvPr/>
        </p:nvCxnSpPr>
        <p:spPr>
          <a:xfrm flipH="1">
            <a:off x="2355800" y="2571750"/>
            <a:ext cx="1566600" cy="8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24"/>
          <p:cNvSpPr/>
          <p:nvPr/>
        </p:nvSpPr>
        <p:spPr>
          <a:xfrm>
            <a:off x="6108900" y="1384375"/>
            <a:ext cx="521100" cy="1188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3160625" y="3433950"/>
            <a:ext cx="521100" cy="11118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24"/>
          <p:cNvCxnSpPr>
            <a:stCxn id="162" idx="2"/>
            <a:endCxn id="163" idx="0"/>
          </p:cNvCxnSpPr>
          <p:nvPr/>
        </p:nvCxnSpPr>
        <p:spPr>
          <a:xfrm flipH="1">
            <a:off x="3421050" y="2572975"/>
            <a:ext cx="2948400" cy="8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172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model</a:t>
            </a:r>
            <a:endParaRPr/>
          </a:p>
        </p:txBody>
      </p:sp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53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520"/>
              <a:t>Also referred to as “Entity-Relationship Diagram”, “schema”...</a:t>
            </a:r>
            <a:endParaRPr sz="1520"/>
          </a:p>
        </p:txBody>
      </p:sp>
      <p:sp>
        <p:nvSpPr>
          <p:cNvPr id="171" name="Google Shape;171;p25"/>
          <p:cNvSpPr/>
          <p:nvPr/>
        </p:nvSpPr>
        <p:spPr>
          <a:xfrm>
            <a:off x="2256682" y="2609374"/>
            <a:ext cx="307875" cy="444275"/>
          </a:xfrm>
          <a:custGeom>
            <a:rect b="b" l="l" r="r" t="t"/>
            <a:pathLst>
              <a:path extrusionOk="0" h="17771" w="12315">
                <a:moveTo>
                  <a:pt x="12315" y="1088"/>
                </a:moveTo>
                <a:cubicBezTo>
                  <a:pt x="8716" y="369"/>
                  <a:pt x="1968" y="-1379"/>
                  <a:pt x="1365" y="2241"/>
                </a:cubicBezTo>
                <a:cubicBezTo>
                  <a:pt x="607" y="6789"/>
                  <a:pt x="-1193" y="12236"/>
                  <a:pt x="1365" y="16072"/>
                </a:cubicBezTo>
                <a:cubicBezTo>
                  <a:pt x="3295" y="18967"/>
                  <a:pt x="8260" y="17225"/>
                  <a:pt x="11739" y="1722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2" name="Google Shape;172;p25"/>
          <p:cNvSpPr/>
          <p:nvPr/>
        </p:nvSpPr>
        <p:spPr>
          <a:xfrm>
            <a:off x="3938268" y="2695289"/>
            <a:ext cx="283150" cy="411625"/>
          </a:xfrm>
          <a:custGeom>
            <a:rect b="b" l="l" r="r" t="t"/>
            <a:pathLst>
              <a:path extrusionOk="0" h="16465" w="11326">
                <a:moveTo>
                  <a:pt x="11326" y="533"/>
                </a:moveTo>
                <a:cubicBezTo>
                  <a:pt x="8438" y="533"/>
                  <a:pt x="4723" y="-933"/>
                  <a:pt x="2681" y="1109"/>
                </a:cubicBezTo>
                <a:cubicBezTo>
                  <a:pt x="-604" y="4394"/>
                  <a:pt x="-174" y="10432"/>
                  <a:pt x="952" y="14940"/>
                </a:cubicBezTo>
                <a:cubicBezTo>
                  <a:pt x="1606" y="17556"/>
                  <a:pt x="7114" y="16270"/>
                  <a:pt x="9020" y="1436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164" y="931837"/>
            <a:ext cx="5317674" cy="393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model</a:t>
            </a:r>
            <a:endParaRPr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9613" y="1367213"/>
            <a:ext cx="4662124" cy="31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79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520"/>
              <a:t>Also referred to as “Entity-Relationship Diagram”, “schema”...</a:t>
            </a:r>
            <a:endParaRPr sz="15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Instances can have multiple schemas*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400"/>
          </a:p>
        </p:txBody>
      </p:sp>
      <p:sp>
        <p:nvSpPr>
          <p:cNvPr id="186" name="Google Shape;186;p27"/>
          <p:cNvSpPr/>
          <p:nvPr/>
        </p:nvSpPr>
        <p:spPr>
          <a:xfrm>
            <a:off x="778075" y="1346375"/>
            <a:ext cx="5340300" cy="330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INSTANCE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974725" y="1839575"/>
            <a:ext cx="1540500" cy="264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 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2655075" y="1839575"/>
            <a:ext cx="1540500" cy="264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SCHEMA 2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189" name="Google Shape;189;p27"/>
          <p:cNvSpPr/>
          <p:nvPr/>
        </p:nvSpPr>
        <p:spPr>
          <a:xfrm>
            <a:off x="4335425" y="1839575"/>
            <a:ext cx="1540500" cy="264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SCHEMA 2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190" name="Google Shape;190;p27"/>
          <p:cNvSpPr/>
          <p:nvPr/>
        </p:nvSpPr>
        <p:spPr>
          <a:xfrm>
            <a:off x="1094275" y="2260950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1094275" y="2805875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1094275" y="3350800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1094275" y="3895725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4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2816625" y="2260950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2816625" y="2805875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2816625" y="3350800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2816625" y="3895725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4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4538975" y="2260950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1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4538975" y="2805875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2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4538975" y="3350800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4538975" y="3895725"/>
            <a:ext cx="1217400" cy="38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4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6616975" y="1346375"/>
            <a:ext cx="2418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Rubik Light"/>
                <a:ea typeface="Rubik Light"/>
                <a:cs typeface="Rubik Light"/>
                <a:sym typeface="Rubik Light"/>
              </a:rPr>
              <a:t>In MySQL:</a:t>
            </a:r>
            <a:endParaRPr>
              <a:solidFill>
                <a:schemeClr val="dk2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Instance = Connection</a:t>
            </a:r>
            <a:endParaRPr b="1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Schema = Database</a:t>
            </a:r>
            <a:endParaRPr b="1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ubik Light"/>
                <a:ea typeface="Rubik Light"/>
                <a:cs typeface="Rubik Light"/>
                <a:sym typeface="Rubik Light"/>
              </a:rPr>
              <a:t>*Different DBMS have slightly different terminologies/structures</a:t>
            </a:r>
            <a:endParaRPr sz="1100">
              <a:solidFill>
                <a:schemeClr val="dk2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basic query functions</a:t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243125" y="942075"/>
            <a:ext cx="4184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USE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. Defines the schema to use in the session.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USE my_schema;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SELECT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. Used to retrieve data.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SELECT column1, column2 FROM table;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SELECT * FROM table;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WHERE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. Sets a condition for your select clause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SELECT * FROM table WHERE column1 &gt; 10;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DISTINCT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. Only select unique results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SELECT DISTINCT(column_1) FROM table;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LIMIT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. Restricts the rows returned in the output (useful to test queries in big tables):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	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SELECT * FROM table LIMIT 10;</a:t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4890050" y="942075"/>
            <a:ext cx="4184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ORDER BY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. Sorts results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SELECT * FROM table ORDER BY column1;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GROUP BY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. Groups the data (needs an aggregation function):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SELECT column1, AVG(column2) 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FROM table 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GROUP BY column 1;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HAVING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. Defines a condition for your select clause.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SELECT column1, AVG(column2) 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FROM table 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GROUP BY column 1 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HAVING  AVG(column2) &gt;10;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COUNT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SUM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AVG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MAX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MIN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...</a:t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1656225" y="4712250"/>
            <a:ext cx="387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latin typeface="Rubik"/>
                <a:ea typeface="Rubik"/>
                <a:cs typeface="Rubik"/>
                <a:sym typeface="Rubik"/>
                <a:hlinkClick r:id="rId3"/>
              </a:rPr>
              <a:t>https://www.sqltutorial.org/sql-cheat-sheet/</a:t>
            </a:r>
            <a:r>
              <a:rPr lang="en-GB" sz="1100">
                <a:latin typeface="Rubik"/>
                <a:ea typeface="Rubik"/>
                <a:cs typeface="Rubik"/>
                <a:sym typeface="Rubik"/>
              </a:rPr>
              <a:t> </a:t>
            </a:r>
            <a:endParaRPr sz="11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Basic Components</a:t>
            </a:r>
            <a:endParaRPr/>
          </a:p>
        </p:txBody>
      </p:sp>
      <p:pic>
        <p:nvPicPr>
          <p:cNvPr id="216" name="Google Shape;2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000" y="1170125"/>
            <a:ext cx="3980001" cy="35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9"/>
          <p:cNvSpPr txBox="1"/>
          <p:nvPr/>
        </p:nvSpPr>
        <p:spPr>
          <a:xfrm>
            <a:off x="4072350" y="1017725"/>
            <a:ext cx="330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Rubik"/>
                <a:ea typeface="Rubik"/>
                <a:cs typeface="Rubik"/>
                <a:sym typeface="Rubik"/>
              </a:rPr>
              <a:t>SELECT</a:t>
            </a:r>
            <a:r>
              <a:rPr lang="en-GB" sz="1100">
                <a:latin typeface="Rubik"/>
                <a:ea typeface="Rubik"/>
                <a:cs typeface="Rubik"/>
                <a:sym typeface="Rubik"/>
              </a:rPr>
              <a:t> existing fields or create derived fields (aggregated or not)</a:t>
            </a:r>
            <a:endParaRPr sz="11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4072350" y="1968625"/>
            <a:ext cx="330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Rubik"/>
                <a:ea typeface="Rubik"/>
                <a:cs typeface="Rubik"/>
                <a:sym typeface="Rubik"/>
              </a:rPr>
              <a:t>FROM</a:t>
            </a:r>
            <a:r>
              <a:rPr lang="en-GB" sz="1100">
                <a:latin typeface="Rubik"/>
                <a:ea typeface="Rubik"/>
                <a:cs typeface="Rubik"/>
                <a:sym typeface="Rubik"/>
              </a:rPr>
              <a:t> which table to query</a:t>
            </a:r>
            <a:endParaRPr sz="11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4072350" y="2306375"/>
            <a:ext cx="330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Rubik"/>
                <a:ea typeface="Rubik"/>
                <a:cs typeface="Rubik"/>
                <a:sym typeface="Rubik"/>
              </a:rPr>
              <a:t>WHERE</a:t>
            </a:r>
            <a:r>
              <a:rPr lang="en-GB" sz="1100">
                <a:latin typeface="Rubik"/>
                <a:ea typeface="Rubik"/>
                <a:cs typeface="Rubik"/>
                <a:sym typeface="Rubik"/>
              </a:rPr>
              <a:t> to filter for specified conditions</a:t>
            </a:r>
            <a:endParaRPr sz="11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4072350" y="2921975"/>
            <a:ext cx="4998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Rubik"/>
                <a:ea typeface="Rubik"/>
                <a:cs typeface="Rubik"/>
                <a:sym typeface="Rubik"/>
              </a:rPr>
              <a:t>GROUP BY</a:t>
            </a:r>
            <a:r>
              <a:rPr lang="en-GB" sz="1100">
                <a:latin typeface="Rubik"/>
                <a:ea typeface="Rubik"/>
                <a:cs typeface="Rubik"/>
                <a:sym typeface="Rubik"/>
              </a:rPr>
              <a:t> statement is often used with aggregate functions (COUNT, MAX, MIN, SUM, AVG) to group the result-set by one or more columns.</a:t>
            </a:r>
            <a:endParaRPr sz="11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4072350" y="3425825"/>
            <a:ext cx="499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Rubik"/>
                <a:ea typeface="Rubik"/>
                <a:cs typeface="Rubik"/>
                <a:sym typeface="Rubik"/>
              </a:rPr>
              <a:t>HAVING</a:t>
            </a:r>
            <a:r>
              <a:rPr lang="en-GB" sz="1100">
                <a:latin typeface="Rubik"/>
                <a:ea typeface="Rubik"/>
                <a:cs typeface="Rubik"/>
                <a:sym typeface="Rubik"/>
              </a:rPr>
              <a:t> keyword specifies a search condition for an aggregate or a group</a:t>
            </a:r>
            <a:endParaRPr sz="11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4072350" y="3779825"/>
            <a:ext cx="499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Rubik"/>
                <a:ea typeface="Rubik"/>
                <a:cs typeface="Rubik"/>
                <a:sym typeface="Rubik"/>
              </a:rPr>
              <a:t>ORDER</a:t>
            </a:r>
            <a:r>
              <a:rPr lang="en-GB" sz="1100">
                <a:latin typeface="Rubik"/>
                <a:ea typeface="Rubik"/>
                <a:cs typeface="Rubik"/>
                <a:sym typeface="Rubik"/>
              </a:rPr>
              <a:t> BY specified variables, if not specified by default it is ASC</a:t>
            </a:r>
            <a:endParaRPr sz="11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4072350" y="4044525"/>
            <a:ext cx="312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Rubik"/>
                <a:ea typeface="Rubik"/>
                <a:cs typeface="Rubik"/>
                <a:sym typeface="Rubik"/>
              </a:rPr>
              <a:t>LIMIT</a:t>
            </a:r>
            <a:r>
              <a:rPr lang="en-GB" sz="1100">
                <a:latin typeface="Rubik"/>
                <a:ea typeface="Rubik"/>
                <a:cs typeface="Rubik"/>
                <a:sym typeface="Rubik"/>
              </a:rPr>
              <a:t> rows to display</a:t>
            </a:r>
            <a:endParaRPr sz="11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MySQL data types</a:t>
            </a:r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311700" y="1708075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When creating a table, you’ll need to define the data types of each column. The most common ones are: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ubik"/>
              <a:buChar char="●"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INT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(size) - Integer with different sizes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ubik"/>
              <a:buChar char="●"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FLOAT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(size,d) - decimal numbers, with increasing ‘accuracy’ &amp; ‘size’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ubik"/>
              <a:buChar char="●"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VARCHAR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(size) - A string with variable length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ubik"/>
              <a:buChar char="●"/>
            </a:pPr>
            <a:r>
              <a:rPr b="1" lang="en-GB" sz="1200">
                <a:latin typeface="Rubik"/>
                <a:ea typeface="Rubik"/>
                <a:cs typeface="Rubik"/>
                <a:sym typeface="Rubik"/>
              </a:rPr>
              <a:t>DATETIME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 - Date &amp; time in YYYY-MM-DD hh:mm:ss format. There are other options in case you just need the time, the year, etc.</a:t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ubik"/>
                <a:ea typeface="Rubik"/>
                <a:cs typeface="Rubik"/>
                <a:sym typeface="Rubik"/>
              </a:rPr>
              <a:t>There are many more data types, designed to optimize the space &amp; fit every need, but you will mostly use these ones. Full docs here: </a:t>
            </a:r>
            <a:r>
              <a:rPr lang="en-GB" sz="1200" u="sng">
                <a:solidFill>
                  <a:schemeClr val="hlink"/>
                </a:solidFill>
                <a:latin typeface="Rubik"/>
                <a:ea typeface="Rubik"/>
                <a:cs typeface="Rubik"/>
                <a:sym typeface="Rubik"/>
                <a:hlinkClick r:id="rId3"/>
              </a:rPr>
              <a:t>https://dev.mysql.com/doc/refman/8.0/en/data-types.html</a:t>
            </a:r>
            <a:r>
              <a:rPr lang="en-GB" sz="1200">
                <a:latin typeface="Rubik"/>
                <a:ea typeface="Rubik"/>
                <a:cs typeface="Rubik"/>
                <a:sym typeface="Rubik"/>
              </a:rPr>
              <a:t> </a:t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1"/>
          <p:cNvPicPr preferRelativeResize="0"/>
          <p:nvPr/>
        </p:nvPicPr>
        <p:blipFill rotWithShape="1">
          <a:blip r:embed="rId3">
            <a:alphaModFix/>
          </a:blip>
          <a:srcRect b="0" l="0" r="49660" t="3091"/>
          <a:stretch/>
        </p:blipFill>
        <p:spPr>
          <a:xfrm>
            <a:off x="2463050" y="655900"/>
            <a:ext cx="2149876" cy="4048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 txBox="1"/>
          <p:nvPr/>
        </p:nvSpPr>
        <p:spPr>
          <a:xfrm>
            <a:off x="4648200" y="655900"/>
            <a:ext cx="2042100" cy="9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SELECT</a:t>
            </a:r>
            <a:r>
              <a:rPr b="1" i="0" lang="en-GB" sz="1300" u="none" cap="none" strike="noStrike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* </a:t>
            </a:r>
            <a:r>
              <a:rPr b="1" i="0" lang="en-GB" sz="13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</a:t>
            </a:r>
            <a:r>
              <a:rPr b="1" i="0" lang="en-GB" sz="1300" u="none" cap="none" strike="noStrike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t1;</a:t>
            </a:r>
            <a:endParaRPr b="1" i="0" sz="1300" u="none" cap="none" strike="noStrike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1175" y="428075"/>
            <a:ext cx="2277024" cy="11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50571" r="783" t="25228"/>
          <a:stretch/>
        </p:blipFill>
        <p:spPr>
          <a:xfrm>
            <a:off x="4612925" y="1580725"/>
            <a:ext cx="2077475" cy="312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WBS CODING SCHOOL theme">
  <a:themeElements>
    <a:clrScheme name="Simple Light">
      <a:dk1>
        <a:srgbClr val="292929"/>
      </a:dk1>
      <a:lt1>
        <a:srgbClr val="FFFFFF"/>
      </a:lt1>
      <a:dk2>
        <a:srgbClr val="595C5D"/>
      </a:dk2>
      <a:lt2>
        <a:srgbClr val="EBEBEB"/>
      </a:lt2>
      <a:accent1>
        <a:srgbClr val="007398"/>
      </a:accent1>
      <a:accent2>
        <a:srgbClr val="212121"/>
      </a:accent2>
      <a:accent3>
        <a:srgbClr val="78909C"/>
      </a:accent3>
      <a:accent4>
        <a:srgbClr val="F8485E"/>
      </a:accent4>
      <a:accent5>
        <a:srgbClr val="4BA5C2"/>
      </a:accent5>
      <a:accent6>
        <a:srgbClr val="595C5D"/>
      </a:accent6>
      <a:hlink>
        <a:srgbClr val="00739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